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Aryashree Rajkumar, Yuthika G, Dr. J. Cynthia   |   A3-PS003-TC371   |   AIORI Hackathon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or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143000" cy="11338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A3-PS003-TC371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Traffic-Flow Prediction with Communication-Cost Evaluation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Cynthia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Cynthia@karunya.edu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Aryashree Rajkumar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aryashreerajkumar@karunya.edu.in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Yuthika 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yuthikag@karunya.edu.in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669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11,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Abstract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 Problem Description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raw junction data to a central cloud uses cellular bandwidth and pools private travel logs.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keeps data on-site and shares only weight updates, but real junctions are non-IID and every round costs bytes.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federated simulator on a public PEMS04 (PeMS) traffic-flow dataset split across 5 virtual junctions. One compact GRU is trained with FedAvg and compared with centralized and local-only models.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IID and non-IID splits with chronological train/test splits over 3 seeds, and study how non-IID data changes accuracy, convergence and megabytes sent.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463040"/>
            <a:ext cx="3931920" cy="13716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463040"/>
            <a:ext cx="64008" cy="13716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and RMSE for FedAvg vs centralized and local-only models, IID vs non-IID.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3017520"/>
            <a:ext cx="3931920" cy="13716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3017520"/>
            <a:ext cx="64008" cy="13716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costly?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up and down per round, and total MB to reach a target RMSE.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4572000"/>
            <a:ext cx="3931920" cy="13716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4572000"/>
            <a:ext cx="64008" cy="13716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5074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to converge under each split. Mean ± std over 3 random seeds.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Background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Traffic-flow prediction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5087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vehicle counts at a junction 15–60 minutes ahead so authorities can act before congestion builds.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606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junction trains on its own data; only model weights, never raw records, go to the server for averaging.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vs non-IID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703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IID: every client sees the same kind of traffic. Non-IID: a highway ramp and a school street differ, so one averaged model fits neither well.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cost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8006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up + down per client per round, times rounds. Per round ≈ 2 × clients × model size.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federated round (FedAvg [1])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1965960"/>
            <a:ext cx="3657600" cy="685800"/>
          </a:xfrm>
          <a:prstGeom prst="rect">
            <a:avLst/>
          </a:prstGeom>
          <a:solidFill>
            <a:srgbClr val="EEF1FB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92440" y="1965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Server sends the global 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784080" y="2651760"/>
            <a:ext cx="0" cy="32004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2971800"/>
            <a:ext cx="3657600" cy="685800"/>
          </a:xfrm>
          <a:prstGeom prst="rect">
            <a:avLst/>
          </a:prstGeom>
          <a:solidFill>
            <a:srgbClr val="EEF1FB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2971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Clients train on local 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84080" y="3657600"/>
            <a:ext cx="0" cy="32004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55280" y="3977640"/>
            <a:ext cx="3657600" cy="685800"/>
          </a:xfrm>
          <a:prstGeom prst="rect">
            <a:avLst/>
          </a:prstGeom>
          <a:solidFill>
            <a:srgbClr val="EEF1FB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3977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Only model weights travel back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784080" y="4663440"/>
            <a:ext cx="0" cy="32004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55280" y="4983480"/>
            <a:ext cx="3657600" cy="685800"/>
          </a:xfrm>
          <a:prstGeom prst="rect">
            <a:avLst/>
          </a:prstGeom>
          <a:solidFill>
            <a:srgbClr val="EEF1FB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4983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Server averages into a new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Literature &amp; RFC Review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RFC Review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389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use it / gap we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FedAvg [1]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averaging of locally trained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algorithm. We add exact byte accounting per 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DCRNN 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Graph-based traffic forecasting (METR-LA)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centralized data. Context only; we use a compact 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 traffic prediction 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traffic-flow forecasting with a privacy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foreground bytes and convergence under controlled IID / non-IID splits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FedProx [7]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Proximal term to handle heterogeneous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work; not 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Gradient Compression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Sparsified gradients cut bandwidth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work; not 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FL (IFCA)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clients with similar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only; not 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8446 [9]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1.3 for secure channels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note only; not simulated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(per problem statement): formal privacy guarantees, secure aggregation [5], live cameras, city-wide deployment.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Proposed Solution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simulator with controlled IID / non-IID splits and a byte meter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103120" cy="306324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64008" cy="306324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split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46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PEMS04 flow data (307 detectors). Chronological train / val / test; scaler fit on train only.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1874520"/>
            <a:ext cx="2103120" cy="306324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874520"/>
            <a:ext cx="64008" cy="306324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01168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6060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246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detectors to 5 virtual junctions: IID (random) or non-IID (grouped by flow level).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874520"/>
            <a:ext cx="2103120" cy="306324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874520"/>
            <a:ext cx="64008" cy="306324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01168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6060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246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trains a compact GRU on sliding windows for a few local epochs.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69480" y="1874520"/>
            <a:ext cx="2103120" cy="306324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874520"/>
            <a:ext cx="64008" cy="306324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01168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6060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+ byte meter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246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averages weights. Bytes up and down are logged every round.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09760" y="1874520"/>
            <a:ext cx="2103120" cy="306324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1874520"/>
            <a:ext cx="64008" cy="306324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201168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92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26060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3246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rounds to target, MB to target. 3 seeds, mean ± std.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6424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2120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vs non-IID accuracy  •  bytes sent per round  •  MB to reach a target RMSE  •  rounds to converge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Solution Optimization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 and Optimization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669280"/>
                <a:gridCol w="3291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PEMS04 flow dataset; chronological train / val / test; scaler fit on train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leakage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virtual junctions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the 3–5 client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IID vs non-IID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IID: random detector assignment. Non-IID: detectors grouped by flow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how heterogeneity hurts FedAvg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Non-IID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in mean flow between clients (simple)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Relates the gap to rounds and MB to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Persistence, local-only, centralized, FedAvg (E = 1; E = 5 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/ upper bounds; accuracy vs bytes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RMSE, bytes per round, total MB, rounds to target; seeds 0, 1,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Fair, reproducible comparison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if time permits: E = 5 run, worst-client RMSE. Future work: quantization, FedProx [7]. Results reported as measured; no gains assumed.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Architecture Design (UML Diagram)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4434840"/>
          </a:xfrm>
          <a:prstGeom prst="rect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566160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  Virtual Junction Client (×5)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&amp; window loader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 (train statistics only)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31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Trainer (compact GRU)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846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packager (weights)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3108960" cy="4434840"/>
          </a:xfrm>
          <a:prstGeom prst="rect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417320"/>
            <a:ext cx="3108960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«server»  Aggregation Server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21031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scheduler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30175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aggregator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39319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store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69680" y="1417320"/>
            <a:ext cx="2743200" cy="4434840"/>
          </a:xfrm>
          <a:prstGeom prst="rect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1417320"/>
            <a:ext cx="2743200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  Evaluation &amp; Logging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210312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5256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meter (up + down)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52560" y="301752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52560" y="3017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MAE, RMSE, MB to target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52560" y="393192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5256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plots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0" y="2743200"/>
            <a:ext cx="82296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11480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4114800" y="3840480"/>
            <a:ext cx="82296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11480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3108960"/>
            <a:ext cx="82296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8046720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logs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component view. Solid arrows = upload / output, dashed = download. Raw data stays inside the client.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Data Flow Diagram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1417320"/>
            <a:ext cx="6446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3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33172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trust boundary: raw data never leaves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5544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 (PeMS flow)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1737360" cy="1188720"/>
          </a:xfrm>
          <a:prstGeom prst="ellipse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Chronological split &amp; windowing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1737360" cy="1188720"/>
          </a:xfrm>
          <a:prstGeom prst="ellipse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Partition IID / non-IID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920240" cy="1188720"/>
          </a:xfrm>
          <a:prstGeom prst="ellipse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7830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Local training (GRU)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3429000"/>
            <a:ext cx="2834640" cy="59436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34290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Local client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0" y="1783080"/>
            <a:ext cx="2286000" cy="1188720"/>
          </a:xfrm>
          <a:prstGeom prst="ellipse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1783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FedAvg aggregate (server)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3429000"/>
            <a:ext cx="2286000" cy="59436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0" y="3429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Global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0" y="4572000"/>
            <a:ext cx="2286000" cy="1097280"/>
          </a:xfrm>
          <a:prstGeom prst="ellipse">
            <a:avLst/>
          </a:prstGeom>
          <a:solidFill>
            <a:srgbClr val="EEF1FB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0" y="4572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Evaluate on test set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663440"/>
            <a:ext cx="2651760" cy="7315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4663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Byte log &amp; metrics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26517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663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plots (mentor)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2011680" y="2377440"/>
            <a:ext cx="365760" cy="13716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0" y="2377440"/>
            <a:ext cx="32004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03520" y="2971800"/>
            <a:ext cx="0" cy="45720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7040880" y="2971800"/>
            <a:ext cx="365760" cy="45720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412480" y="2148840"/>
            <a:ext cx="100584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841248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8412480" y="2606040"/>
            <a:ext cx="100584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84124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561320" y="2971800"/>
            <a:ext cx="0" cy="45720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561320" y="4023360"/>
            <a:ext cx="0" cy="54864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52360" y="2971800"/>
            <a:ext cx="0" cy="169164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754380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counted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H="1">
            <a:off x="8686800" y="5074920"/>
            <a:ext cx="73152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3200400" y="5029200"/>
            <a:ext cx="2834640" cy="0"/>
          </a:xfrm>
          <a:prstGeom prst="line">
            <a:avLst/>
          </a:prstGeom>
          <a:noFill/>
          <a:ln w="19050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4864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weights and byte counts cross the boundary. Raw data stays in D1.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Prototype Pseudocode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Pseudocode: FedAvg with Byte Meter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663440"/>
          </a:xfrm>
          <a:prstGeom prst="rect">
            <a:avLst/>
          </a:prstGeom>
          <a:solidFill>
            <a:srgbClr val="F6F7FB"/>
          </a:solidFill>
          <a:ln w="12700">
            <a:solidFill>
              <a:srgbClr val="C9C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seed in [0, 1, 2]: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clients = partition(train_data, mode, K)     # IID / non-IID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init_gru(); total_bytes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 in 1..R: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bytes_r = 0                               # per-round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1..K:                            # all clients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w_k = local_train(w, clients[k], E)   # E epochs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bytes_r += nbytes(w) + nbytes(w_k)    # down + 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 = sum(n_k * w_k) / sum(n_k)             # FedAvg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total_bytes += bytes_r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log(r, rmse(w, val), bytes_r, total_bytes)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report(test_mae, test_rmse, MB_to_target)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38160" y="1417320"/>
            <a:ext cx="3474720" cy="14173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417320"/>
            <a:ext cx="64008" cy="14173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667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IID and non-IID side by side. Show the loss curve and a live MB counter per round.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3017520"/>
            <a:ext cx="3474720" cy="14173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017520"/>
            <a:ext cx="64008" cy="14173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running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train only. Test period strictly after train period.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4617720"/>
            <a:ext cx="3474720" cy="146304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4617720"/>
            <a:ext cx="64008" cy="146304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seeds 0, 1, 2. One command regenerates tables and plots.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Deployment Timeline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645920"/>
            <a:ext cx="9601200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4173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03120" cy="32004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repo, add aiori-hackathon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PEMS04 flow data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split, persistence baseline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480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</a:t>
            </a:r>
            <a:pPr indent="0" marL="0">
              <a:buNone/>
            </a:pPr>
            <a:r>
              <a:rPr lang="en-US" sz="1300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MAE / RMSE logged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4173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88920" y="2103120"/>
            <a:ext cx="2103120" cy="32004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517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GRU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GRU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3 seeds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4480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</a:t>
            </a:r>
            <a:pPr indent="0" marL="0">
              <a:buNone/>
            </a:pPr>
            <a:r>
              <a:rPr lang="en-US" sz="1300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table done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4173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0" y="2103120"/>
            <a:ext cx="2103120" cy="32004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663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core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26517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simulator (own loop; Flower [8] optional)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and non-IID partitions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meter per round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4480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</a:t>
            </a:r>
            <a:pPr indent="0" marL="0">
              <a:buNone/>
            </a:pPr>
            <a:r>
              <a:rPr lang="en-US" sz="1300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vs rounds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14173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69480" y="2103120"/>
            <a:ext cx="2103120" cy="32004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6517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vs non-IID comparison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5 run (optional)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MB-to-target table and plots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4480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</a:t>
            </a:r>
            <a:pPr indent="0" marL="0">
              <a:buNone/>
            </a:pPr>
            <a:r>
              <a:rPr lang="en-US" sz="1300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mean ± std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332720" y="14173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32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509760" y="2103120"/>
            <a:ext cx="2103120" cy="32004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469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demo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26517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 repo (given structure)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snippet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demo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46920" y="4480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</a:t>
            </a:r>
            <a:pPr indent="0" marL="0">
              <a:buNone/>
            </a:pPr>
            <a:r>
              <a:rPr lang="en-US" sz="1300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ready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and measurement-driven. Every stage ends with a checkpoint (RMSE, MB per round).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Bibliography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H. B. McMahan et al., “Communication-Efficient Learning of Deep Networks from Decentralized Data,” AISTATS, 2017.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Y. Li, R. Yu, C. Shahabi, Y. Liu, “Diffusion Convolutional Recurrent Neural Network: Data-Driven Traffic Forecasting,” ICLR, 2018.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Y. Liu et al., “Privacy-Preserving Traffic Flow Prediction: A Federated Learning Approach,” IEEE Internet of Things Journal, vol. 7, no. 8, 2020.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Y. Lin, S. Han, H. Mao, Y. Wang, W. J. Dally, “Deep Gradient Compression,” ICLR, 2018.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K. Bonawitz et al., “Practical Secure Aggregation for Privacy-Preserving Machine Learning,” ACM CCS, 2017.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A. Ghosh, J. Chung, D. Yin, K. Ramchandran, “An Efficient Framework for Clustered Federated Learning,” NeurIPS, 2020.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T. Li et al., “Federated Optimization in Heterogeneous Networks,” MLSys, 2020.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D. J. Beutel et al., “Flower: A Friendly Federated Learning Research Framework,” arXiv:2007.14390, 2020.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E. Rescorla, “The Transport Layer Security (TLS) Protocol Version 1.3,” RFC 8446, IETF, 2018.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or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143000" cy="11338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A3-PS003-TC371  •  AIORI Hackathon 3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Cynthia  –  Cynthia@karunya.edu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Aryashree Rajkumar  –  aryashreerajkumar@karunya.edu.in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Yuthika G  –  yuthikag@karunya.edu.in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3">
  <a:themeElements>
    <a:clrScheme name="AIORI3">
      <a:dk1>
        <a:srgbClr val="111111"/>
      </a:dk1>
      <a:lt1>
        <a:srgbClr val="FFFFFF"/>
      </a:lt1>
      <a:dk2>
        <a:srgbClr val="1B2A6B"/>
      </a:dk2>
      <a:lt2>
        <a:srgbClr val="EEF1FB"/>
      </a:lt2>
      <a:accent1>
        <a:srgbClr val="0000CC"/>
      </a:accent1>
      <a:accent2>
        <a:srgbClr val="1B2A6B"/>
      </a:accent2>
      <a:accent3>
        <a:srgbClr val="1B7F3B"/>
      </a:accent3>
      <a:accent4>
        <a:srgbClr val="E08A00"/>
      </a:accent4>
      <a:accent5>
        <a:srgbClr val="C9CEE6"/>
      </a:accent5>
      <a:accent6>
        <a:srgbClr val="FFC878"/>
      </a:accent6>
      <a:hlink>
        <a:srgbClr val="0000CC"/>
      </a:hlink>
      <a:folHlink>
        <a:srgbClr val="1B2A6B"/>
      </a:folHlink>
    </a:clrScheme>
    <a:fontScheme name="AIORI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A3-PS003-TC371 Federated Traffic-Flow Prediction with Communication-Cost Evaluation</dc:title>
  <dc:subject>PptxGenJS Presentation</dc:subject>
  <dc:creator>Dr. J. Cynthia, Aryashree Rajkumar, Yuthika G</dc:creator>
  <cp:lastModifiedBy>Dr. J. Cynthia, Aryashree Rajkumar, Yuthika G</cp:lastModifiedBy>
  <cp:revision>1</cp:revision>
  <dcterms:created xsi:type="dcterms:W3CDTF">2026-10-14T08:59:15Z</dcterms:created>
  <dcterms:modified xsi:type="dcterms:W3CDTF">2026-10-14T08:59:15Z</dcterms:modified>
</cp:coreProperties>
</file>