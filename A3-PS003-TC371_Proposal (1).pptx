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al" id="{70A6DAF4-EDED-77B5-11DC-5EF88DF5134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46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000CC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CC"/>
                </a:solidFill>
              </a:rPr>
              <a:t>Aryashree Rajkumar, Yuthika G  •  A3-PS003-TC371  •  October 11,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OR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143000" cy="11338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66544"/>
            <a:ext cx="10972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CC"/>
                </a:solidFill>
              </a:rPr>
              <a:t>A3-PS003-TC371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</a:rPr>
              <a:t>Federated Traffic-Flow Prediction with Communication-Cost Evaluation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Dr. J . Cynthia   </a:t>
            </a:r>
          </a:p>
          <a:p>
            <a:r>
              <a:rPr lang="en-US" b="1" dirty="0">
                <a:solidFill>
                  <a:srgbClr val="111111"/>
                </a:solidFill>
              </a:rPr>
              <a:t>Cynthia@karunya.edu </a:t>
            </a:r>
            <a:endParaRPr lang="en-US" b="1" dirty="0"/>
          </a:p>
          <a:p>
            <a:r>
              <a:rPr lang="en-US" sz="1800" b="1" dirty="0">
                <a:solidFill>
                  <a:srgbClr val="111111"/>
                </a:solidFill>
              </a:rPr>
              <a:t>Aryashree Rajkumar</a:t>
            </a:r>
            <a:r>
              <a:rPr lang="en-US" b="1" dirty="0">
                <a:solidFill>
                  <a:srgbClr val="111111"/>
                </a:solidFill>
              </a:rPr>
              <a:t>                              </a:t>
            </a:r>
            <a:endParaRPr lang="en-US" sz="1800" b="1" dirty="0">
              <a:solidFill>
                <a:srgbClr val="111111"/>
              </a:solidFill>
            </a:endParaRPr>
          </a:p>
          <a:p>
            <a:r>
              <a:rPr lang="en-US" sz="1800" b="1" dirty="0">
                <a:solidFill>
                  <a:srgbClr val="111111"/>
                </a:solidFill>
              </a:rPr>
              <a:t>aryashreerajkumar@karunya.edu.in</a:t>
            </a:r>
          </a:p>
          <a:p>
            <a:r>
              <a:rPr lang="en-US" b="1" dirty="0">
                <a:solidFill>
                  <a:srgbClr val="111111"/>
                </a:solidFill>
              </a:rPr>
              <a:t>Yuthika G</a:t>
            </a:r>
          </a:p>
          <a:p>
            <a:r>
              <a:rPr lang="en-US" b="1" dirty="0">
                <a:solidFill>
                  <a:srgbClr val="111111"/>
                </a:solidFill>
              </a:rPr>
              <a:t>yuthikag@karunya.edu.in</a:t>
            </a:r>
            <a:endParaRPr lang="en-US" dirty="0"/>
          </a:p>
          <a:p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03520"/>
            <a:ext cx="7315200" cy="99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</a:rPr>
              <a:t>AIORI Hackathon 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38"/>
            <a:ext cx="7315200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</a:rPr>
              <a:t>October 11,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Abstract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Abstract: Problem Description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</a:rPr>
              <a:t>Junction-level traffic data is rich, but pooling it centrally raises privacy, ownership and bandwidth concerns.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</a:rPr>
              <a:t>Local-only models are data-starved and miss network-wide patterns; centralized models need raw-data export.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</a:rPr>
              <a:t>Federated Learning keeps data on-site, yet every training round costs bandwidth, and that cost is rarely measured in traffic prediction.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</a:rPr>
              <a:t>We propose CoFlow-FL: junctions collaboratively predict 15–60 min traffic flow while raw data never leaves the junction, and communication cost is tracked as a first-class metric.</a:t>
            </a:r>
            <a:endParaRPr lang="en-US" sz="1900" dirty="0"/>
          </a:p>
        </p:txBody>
      </p:sp>
      <p:sp>
        <p:nvSpPr>
          <p:cNvPr id="5" name="question 1 bg"/>
          <p:cNvSpPr/>
          <p:nvPr/>
        </p:nvSpPr>
        <p:spPr>
          <a:xfrm>
            <a:off x="7680960" y="1463040"/>
            <a:ext cx="3931920" cy="13716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6" name="question 1 bar"/>
          <p:cNvSpPr/>
          <p:nvPr/>
        </p:nvSpPr>
        <p:spPr>
          <a:xfrm>
            <a:off x="7680960" y="1463040"/>
            <a:ext cx="64008" cy="13716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CC"/>
                </a:solidFill>
              </a:rPr>
              <a:t>How accurate?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Prediction error (MAE / RMSE / MAPE) vs centralized and local-only models.</a:t>
            </a:r>
            <a:endParaRPr lang="en-US" sz="1300" dirty="0"/>
          </a:p>
        </p:txBody>
      </p:sp>
      <p:sp>
        <p:nvSpPr>
          <p:cNvPr id="9" name="question 2 bg"/>
          <p:cNvSpPr/>
          <p:nvPr/>
        </p:nvSpPr>
        <p:spPr>
          <a:xfrm>
            <a:off x="7680960" y="3017520"/>
            <a:ext cx="3931920" cy="13716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0" name="question 2 bar"/>
          <p:cNvSpPr/>
          <p:nvPr/>
        </p:nvSpPr>
        <p:spPr>
          <a:xfrm>
            <a:off x="7680960" y="3017520"/>
            <a:ext cx="64008" cy="13716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CC"/>
                </a:solidFill>
              </a:rPr>
              <a:t>How costly?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Megabytes exchanged per round and in total to reach a target accuracy.</a:t>
            </a:r>
            <a:endParaRPr lang="en-US" sz="1300" dirty="0"/>
          </a:p>
        </p:txBody>
      </p:sp>
      <p:sp>
        <p:nvSpPr>
          <p:cNvPr id="13" name="question 3 bg"/>
          <p:cNvSpPr/>
          <p:nvPr/>
        </p:nvSpPr>
        <p:spPr>
          <a:xfrm>
            <a:off x="7680960" y="4572000"/>
            <a:ext cx="3931920" cy="137160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4" name="question 3 bar"/>
          <p:cNvSpPr/>
          <p:nvPr/>
        </p:nvSpPr>
        <p:spPr>
          <a:xfrm>
            <a:off x="7680960" y="4572000"/>
            <a:ext cx="64008" cy="13716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CC"/>
                </a:solidFill>
              </a:rPr>
              <a:t>How private?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5074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Raw data stays local; updates are compressed and securely aggregated.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Background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Background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Traffic-flow prediction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Forecasting vehicle counts at a junction 15–60 minutes ahead so authorities can act before congestion builds.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Federated Learning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651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Each junction trains on its own data; only model updates, never raw records, are sent for aggregation.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Non-IID junctions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840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A highway ramp and a school street behave differently, so one averaged model fits neither well.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Communication cost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5029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Bytes up + down, per junction, per round, times rounds. This is the bottleneck on low-bandwidth city links.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</a:rPr>
              <a:t>One federated round (FedAvg [1])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1828800"/>
            <a:ext cx="4114800" cy="685800"/>
          </a:xfrm>
          <a:prstGeom prst="rect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182880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1  Server sends the global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55480" y="2514600"/>
            <a:ext cx="0" cy="32004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2834640"/>
            <a:ext cx="4114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83464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2  Junctions train on local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55480" y="3520440"/>
            <a:ext cx="0" cy="32004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3840480"/>
            <a:ext cx="4114800" cy="685800"/>
          </a:xfrm>
          <a:prstGeom prst="rect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384048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3  Only model updates travel back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55480" y="4526280"/>
            <a:ext cx="0" cy="32004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4846320"/>
            <a:ext cx="4114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484632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4  Server averages into a new model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5852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F73"/>
                </a:solidFill>
              </a:rPr>
              <a:t>Cost per round grows with model size × number of junctions, which motivates compression.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Literature &amp; RFC Review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Literature &amp; RFC Review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contributes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Gap we address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FedAvg [1]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Federated averaging of locally trained models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Does not optimize bytes per round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DCRNN [2]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Graph-based traffic forecasting (METR-LA)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Needs centralized data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FL traffic prediction [3]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Federated traffic-flow forecasting with privacy focus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Communication cost not a primary evaluated metric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Deep Gradient Compression [4]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Sparsified gradients cut bandwidth sharply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Not studied for per-junction traffic models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Secure Aggregation [5]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Server sees only the sum of updates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Overhead not weighed against accuracy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Clustered FL (IFCA) [6]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Cluster clients with similar data distributions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Not tied to traffic-pattern types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CC"/>
                          </a:solidFill>
                        </a:rPr>
                        <a:t>Standards: RFC 8446 [9]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TLS 1.3 secures junction-to-server channels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Adopted as the transport baseline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Proposed Solution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6B"/>
                </a:solidFill>
              </a:rPr>
              <a:t>CoFlow-FL: cost-aware, cluster-personalized federated traffic prediction</a:t>
            </a:r>
            <a:endParaRPr lang="en-US" sz="1800" dirty="0"/>
          </a:p>
        </p:txBody>
      </p:sp>
      <p:sp>
        <p:nvSpPr>
          <p:cNvPr id="5" name="stage 1 bg"/>
          <p:cNvSpPr/>
          <p:nvPr/>
        </p:nvSpPr>
        <p:spPr>
          <a:xfrm>
            <a:off x="548640" y="1965960"/>
            <a:ext cx="2103120" cy="30175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6" name="stage 1 bar"/>
          <p:cNvSpPr/>
          <p:nvPr/>
        </p:nvSpPr>
        <p:spPr>
          <a:xfrm>
            <a:off x="548640" y="1965960"/>
            <a:ext cx="64008" cy="30175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Local training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Each junction trains a lightweight GRU on its own sliding windows of vehicle counts.</a:t>
            </a:r>
            <a:endParaRPr lang="en-US" sz="1350" dirty="0"/>
          </a:p>
        </p:txBody>
      </p:sp>
      <p:sp>
        <p:nvSpPr>
          <p:cNvPr id="11" name="stage 2 bg"/>
          <p:cNvSpPr/>
          <p:nvPr/>
        </p:nvSpPr>
        <p:spPr>
          <a:xfrm>
            <a:off x="2788920" y="1965960"/>
            <a:ext cx="2103120" cy="30175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2" name="stage 2 bar"/>
          <p:cNvSpPr/>
          <p:nvPr/>
        </p:nvSpPr>
        <p:spPr>
          <a:xfrm>
            <a:off x="2788920" y="1965960"/>
            <a:ext cx="64008" cy="30175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1031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Compress &amp; gate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1546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Top-k sparsify + 8-bit quantize the update; skip the upload if the change is insignificant.</a:t>
            </a:r>
            <a:endParaRPr lang="en-US" sz="1350" dirty="0"/>
          </a:p>
        </p:txBody>
      </p:sp>
      <p:sp>
        <p:nvSpPr>
          <p:cNvPr id="17" name="stage 3 bg"/>
          <p:cNvSpPr/>
          <p:nvPr/>
        </p:nvSpPr>
        <p:spPr>
          <a:xfrm>
            <a:off x="5029200" y="1965960"/>
            <a:ext cx="2103120" cy="30175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8" name="stage 3 bar"/>
          <p:cNvSpPr/>
          <p:nvPr/>
        </p:nvSpPr>
        <p:spPr>
          <a:xfrm>
            <a:off x="5029200" y="1965960"/>
            <a:ext cx="64008" cy="30175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1031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Cluster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1546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Group junctions by traffic-pattern similarity (arterial, residential, mixed) to handle non-IID data.</a:t>
            </a:r>
            <a:endParaRPr lang="en-US" sz="1350" dirty="0"/>
          </a:p>
        </p:txBody>
      </p:sp>
      <p:sp>
        <p:nvSpPr>
          <p:cNvPr id="23" name="stage 4 bg"/>
          <p:cNvSpPr/>
          <p:nvPr/>
        </p:nvSpPr>
        <p:spPr>
          <a:xfrm>
            <a:off x="7269480" y="1965960"/>
            <a:ext cx="2103120" cy="30175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24" name="stage 4 bar"/>
          <p:cNvSpPr/>
          <p:nvPr/>
        </p:nvSpPr>
        <p:spPr>
          <a:xfrm>
            <a:off x="7269480" y="1965960"/>
            <a:ext cx="64008" cy="30175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1031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Secure aggregate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1546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Aggregate per cluster with secure aggregation; optional noise for differential privacy.</a:t>
            </a:r>
            <a:endParaRPr lang="en-US" sz="1350" dirty="0"/>
          </a:p>
        </p:txBody>
      </p:sp>
      <p:sp>
        <p:nvSpPr>
          <p:cNvPr id="29" name="stage 5 bg"/>
          <p:cNvSpPr/>
          <p:nvPr/>
        </p:nvSpPr>
        <p:spPr>
          <a:xfrm>
            <a:off x="9509760" y="1965960"/>
            <a:ext cx="2103120" cy="30175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30" name="stage 5 bar"/>
          <p:cNvSpPr/>
          <p:nvPr/>
        </p:nvSpPr>
        <p:spPr>
          <a:xfrm>
            <a:off x="9509760" y="1965960"/>
            <a:ext cx="64008" cy="30175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2103120"/>
            <a:ext cx="457200" cy="457200"/>
          </a:xfrm>
          <a:prstGeom prst="ellipse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92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CC"/>
                </a:solidFill>
              </a:rPr>
              <a:t>Predict &amp; measure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31546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Forecast congestion, raise alerts, and log bytes per round in a cost meter.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878"/>
                </a:solidFill>
              </a:rPr>
              <a:t>What is new:  </a:t>
            </a:r>
            <a:r>
              <a:rPr lang="en-US" sz="1500" dirty="0">
                <a:solidFill>
                  <a:srgbClr val="FFFFFF"/>
                </a:solidFill>
              </a:rPr>
              <a:t>accuracy-per-MB as a headline metric  •  update gating that skips uploads  •  traffic-pattern clustering  •  raw data never leaves the junction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Solution Optimization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Optimization Proposed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968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Baseline FedAvg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Proposed CoFlow-FL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CC"/>
                          </a:solidFill>
                        </a:rPr>
                        <a:t>Update payload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Full float32 model sent every round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Top-k sparsified + 8-bit quantized update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CC"/>
                          </a:solidFill>
                        </a:rPr>
                        <a:t>Upload frequency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Every junction, every round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Gated: only significant updates are sent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CC"/>
                          </a:solidFill>
                        </a:rPr>
                        <a:t>Non-IID junctions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One global model for all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Cluster models + local personalized head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CC"/>
                          </a:solidFill>
                        </a:rPr>
                        <a:t>Privacy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Raw data local; plain updates visible to server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Secure aggregation + optional DP noise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CC"/>
                          </a:solidFill>
                        </a:rPr>
                        <a:t>Cost evaluation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Accuracy only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MB per round, total MB, and accuracy-per-MB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CC"/>
                          </a:solidFill>
                        </a:rPr>
                        <a:t>Output for authorities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Forecast values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Forecasts + congestion alerts + cost report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</a:rPr>
              <a:t>Improvements are design goals; we will validate them in simulation against centralized, local-only and FedAvg baselines.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Architecture Design (UML Diagram)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Solution Architecture &amp;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343400"/>
          </a:xfrm>
          <a:prstGeom prst="rect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«node»  Junction Edge Node (×N)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291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03120"/>
            <a:ext cx="3291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Data Collector (detectors / cameras)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291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3291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Local Trainer (lightweight GRU)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3291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Update Compressor (top-k, 8-bit, gate)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3291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Cost Logger (bytes per round)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417320"/>
            <a:ext cx="3291840" cy="4343400"/>
          </a:xfrm>
          <a:prstGeom prst="rect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417320"/>
            <a:ext cx="329184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«server»  Aggregation Server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2103120"/>
            <a:ext cx="2926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Cluster Manager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017520"/>
            <a:ext cx="2926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Secure Aggregator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931920"/>
            <a:ext cx="2926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Global / Cluster Model Store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4846320"/>
            <a:ext cx="2926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Cost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26880" y="1417320"/>
            <a:ext cx="2286000" cy="4343400"/>
          </a:xfrm>
          <a:prstGeom prst="rect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1417320"/>
            <a:ext cx="228600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«actor»  Traffic Authority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09760" y="2103120"/>
            <a:ext cx="1920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976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Congestion Alert Engine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3017520"/>
            <a:ext cx="1920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0976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Forecast Viewer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09760" y="3931920"/>
            <a:ext cx="1920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09760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«component»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Cost-Efficiency Report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2834640"/>
            <a:ext cx="9144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224528" y="233172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6B"/>
                </a:solidFill>
              </a:rPr>
              <a:t>compressed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flipH="1">
            <a:off x="4206240" y="4297680"/>
            <a:ext cx="9144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224528" y="434340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6B"/>
                </a:solidFill>
              </a:rPr>
              <a:t>global model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12480" y="3383280"/>
            <a:ext cx="9144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8430768" y="288036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6B"/>
                </a:solidFill>
              </a:rPr>
              <a:t>forecasts, cost report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73"/>
                </a:solidFill>
              </a:rPr>
              <a:t>Figure: System architecture (component view). Solid arrows = upload / output, dashed = download.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Data Flow Diagram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Data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315200" cy="2560320"/>
          </a:xfrm>
          <a:prstGeom prst="rect">
            <a:avLst/>
          </a:prstGeom>
          <a:solidFill>
            <a:srgbClr val="F6F7FD"/>
          </a:solidFill>
          <a:ln w="22225">
            <a:solidFill>
              <a:srgbClr val="13880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94360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</a:rPr>
              <a:t>Junction trust boundary: raw data never leaves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188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1188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Junction sensors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011680"/>
            <a:ext cx="1463040" cy="1005840"/>
          </a:xfrm>
          <a:prstGeom prst="ellipse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20116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Preprocess &amp; window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2011680"/>
            <a:ext cx="1463040" cy="1005840"/>
          </a:xfrm>
          <a:prstGeom prst="ellipse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20116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Local 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1554480" cy="1005840"/>
          </a:xfrm>
          <a:prstGeom prst="ellipse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01168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Compress &amp; gate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337560"/>
            <a:ext cx="2651760" cy="457200"/>
          </a:xfrm>
          <a:prstGeom prst="rect">
            <a:avLst/>
          </a:prstGeom>
          <a:solidFill>
            <a:srgbClr val="FFF4E5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D1  Local traffic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514600"/>
            <a:ext cx="4572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9040" y="2514600"/>
            <a:ext cx="36576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2514600"/>
            <a:ext cx="4572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17520" y="3017520"/>
            <a:ext cx="0" cy="32004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4572000" y="3017520"/>
            <a:ext cx="0" cy="32004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35040" y="4434840"/>
            <a:ext cx="1554480" cy="1005840"/>
          </a:xfrm>
          <a:prstGeom prst="ellipse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443484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Secure aggregate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(per cluster)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3017520"/>
            <a:ext cx="0" cy="141732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90372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6B"/>
                </a:solidFill>
              </a:rPr>
              <a:t>compressed Δ update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4663440"/>
            <a:ext cx="1828800" cy="548640"/>
          </a:xfrm>
          <a:prstGeom prst="rect">
            <a:avLst/>
          </a:prstGeom>
          <a:solidFill>
            <a:srgbClr val="FFF4E5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D2  Global / cluster 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H="1">
            <a:off x="5486400" y="4937760"/>
            <a:ext cx="54864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5349240" y="3017520"/>
            <a:ext cx="0" cy="1645920"/>
          </a:xfrm>
          <a:prstGeom prst="line">
            <a:avLst/>
          </a:prstGeom>
          <a:noFill/>
          <a:ln w="22225">
            <a:solidFill>
              <a:srgbClr val="1B2A6B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4068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6B"/>
                </a:solidFill>
              </a:rPr>
              <a:t>global model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5669280"/>
            <a:ext cx="2286000" cy="457200"/>
          </a:xfrm>
          <a:prstGeom prst="rect">
            <a:avLst/>
          </a:prstGeom>
          <a:solidFill>
            <a:srgbClr val="FFF4E5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56692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D3  Cost log (bytes / round)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5440680"/>
            <a:ext cx="0" cy="22860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03920" y="4434840"/>
            <a:ext cx="1554480" cy="1005840"/>
          </a:xfrm>
          <a:prstGeom prst="ellipse">
            <a:avLst/>
          </a:prstGeom>
          <a:solidFill>
            <a:srgbClr val="EEF1FB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443484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</a:rPr>
              <a:t>Predict &amp; alert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4937760"/>
            <a:ext cx="9144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15600" y="4572000"/>
            <a:ext cx="1097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15600" y="4572000"/>
            <a:ext cx="10972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Traffic authority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58400" y="4937760"/>
            <a:ext cx="457200" cy="0"/>
          </a:xfrm>
          <a:prstGeom prst="line">
            <a:avLst/>
          </a:prstGeom>
          <a:noFill/>
          <a:ln w="22225">
            <a:solidFill>
              <a:srgbClr val="1B2A6B"/>
            </a:solidFill>
            <a:prstDash val="solid"/>
            <a:tailEnd type="triangle"/>
          </a:ln>
        </p:spPr>
      </p:sp>
      <p:sp>
        <p:nvSpPr>
          <p:cNvPr id="39" name="legend bg"/>
          <p:cNvSpPr/>
          <p:nvPr/>
        </p:nvSpPr>
        <p:spPr>
          <a:xfrm>
            <a:off x="8229600" y="1417320"/>
            <a:ext cx="3383280" cy="256032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40" name="legend bar"/>
          <p:cNvSpPr/>
          <p:nvPr/>
        </p:nvSpPr>
        <p:spPr>
          <a:xfrm>
            <a:off x="8229600" y="1417320"/>
            <a:ext cx="64008" cy="2560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58200" y="15544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00CC"/>
                </a:solidFill>
              </a:rPr>
              <a:t>Reading the diagram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Only compressed updates cross the trust boundary.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The cost meter logs bytes at P3 and P4 into D3.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P5 turns forecasts into congestion alerts.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Deployment Timeline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Deployment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32720" cy="0"/>
          </a:xfrm>
          <a:prstGeom prst="line">
            <a:avLst/>
          </a:prstGeom>
          <a:noFill/>
          <a:ln w="2540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554480"/>
            <a:ext cx="548640" cy="548640"/>
          </a:xfrm>
          <a:prstGeom prst="ellipse">
            <a:avLst/>
          </a:prstGeom>
          <a:solidFill>
            <a:srgbClr val="000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milestone 1 bg"/>
          <p:cNvSpPr/>
          <p:nvPr/>
        </p:nvSpPr>
        <p:spPr>
          <a:xfrm>
            <a:off x="548640" y="2286000"/>
            <a:ext cx="2103120" cy="292608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8" name="milestone 1 bar"/>
          <p:cNvSpPr/>
          <p:nvPr/>
        </p:nvSpPr>
        <p:spPr>
          <a:xfrm>
            <a:off x="548640" y="2286000"/>
            <a:ext cx="64008" cy="292608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CC"/>
                </a:solidFill>
              </a:rPr>
              <a:t>Data &amp; baselines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346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Map METR-LA / PEMS-BAY sensors to virtual junctions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Train centralized, local-only and FedAvg baselines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</a:rPr>
              <a:t>Checkpoint: </a:t>
            </a:r>
            <a:r>
              <a:rPr lang="en-US" sz="1100" dirty="0">
                <a:solidFill>
                  <a:srgbClr val="111111"/>
                </a:solidFill>
              </a:rPr>
              <a:t>Baseline RMSE and MB logged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1554480"/>
            <a:ext cx="548640" cy="548640"/>
          </a:xfrm>
          <a:prstGeom prst="ellipse">
            <a:avLst/>
          </a:prstGeom>
          <a:solidFill>
            <a:srgbClr val="000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milestone 2 bg"/>
          <p:cNvSpPr/>
          <p:nvPr/>
        </p:nvSpPr>
        <p:spPr>
          <a:xfrm>
            <a:off x="2788920" y="2286000"/>
            <a:ext cx="2103120" cy="292608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15" name="milestone 2 bar"/>
          <p:cNvSpPr/>
          <p:nvPr/>
        </p:nvSpPr>
        <p:spPr>
          <a:xfrm>
            <a:off x="2788920" y="2286000"/>
            <a:ext cx="64008" cy="292608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CC"/>
                </a:solidFill>
              </a:rPr>
              <a:t>Federated core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8346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Flower simulation with N junction clients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Lightweight GRU local model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</a:rPr>
              <a:t>Checkpoint: </a:t>
            </a:r>
            <a:r>
              <a:rPr lang="en-US" sz="1100" dirty="0">
                <a:solidFill>
                  <a:srgbClr val="111111"/>
                </a:solidFill>
              </a:rPr>
              <a:t>FedAvg tracks centralized trend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554480"/>
            <a:ext cx="548640" cy="548640"/>
          </a:xfrm>
          <a:prstGeom prst="ellipse">
            <a:avLst/>
          </a:prstGeom>
          <a:solidFill>
            <a:srgbClr val="000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milestone 3 bg"/>
          <p:cNvSpPr/>
          <p:nvPr/>
        </p:nvSpPr>
        <p:spPr>
          <a:xfrm>
            <a:off x="5029200" y="2286000"/>
            <a:ext cx="2103120" cy="292608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22" name="milestone 3 bar"/>
          <p:cNvSpPr/>
          <p:nvPr/>
        </p:nvSpPr>
        <p:spPr>
          <a:xfrm>
            <a:off x="5029200" y="2286000"/>
            <a:ext cx="64008" cy="292608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CC"/>
                </a:solidFill>
              </a:rPr>
              <a:t>Cost optimization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8346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Top-k + 8-bit quantization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Update gating and cluster-wise aggregation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</a:rPr>
              <a:t>Checkpoint: </a:t>
            </a:r>
            <a:r>
              <a:rPr lang="en-US" sz="1100" dirty="0">
                <a:solidFill>
                  <a:srgbClr val="111111"/>
                </a:solidFill>
              </a:rPr>
              <a:t>Similar accuracy at fewer MB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92440" y="1554480"/>
            <a:ext cx="548640" cy="548640"/>
          </a:xfrm>
          <a:prstGeom prst="ellipse">
            <a:avLst/>
          </a:prstGeom>
          <a:solidFill>
            <a:srgbClr val="000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milestone 4 bg"/>
          <p:cNvSpPr/>
          <p:nvPr/>
        </p:nvSpPr>
        <p:spPr>
          <a:xfrm>
            <a:off x="7269480" y="2286000"/>
            <a:ext cx="2103120" cy="292608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29" name="milestone 4 bar"/>
          <p:cNvSpPr/>
          <p:nvPr/>
        </p:nvSpPr>
        <p:spPr>
          <a:xfrm>
            <a:off x="7269480" y="2286000"/>
            <a:ext cx="64008" cy="292608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CC"/>
                </a:solidFill>
              </a:rPr>
              <a:t>Privacy &amp; evaluation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8346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Secure aggregation, optional DP noise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Privacy–accuracy–cost trade-off curves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</a:rPr>
              <a:t>Checkpoint: </a:t>
            </a:r>
            <a:r>
              <a:rPr lang="en-US" sz="1100" dirty="0">
                <a:solidFill>
                  <a:srgbClr val="111111"/>
                </a:solidFill>
              </a:rPr>
              <a:t>Ablation report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332720" y="1554480"/>
            <a:ext cx="548640" cy="548640"/>
          </a:xfrm>
          <a:prstGeom prst="ellipse">
            <a:avLst/>
          </a:prstGeom>
          <a:solidFill>
            <a:srgbClr val="000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332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milestone 5 bg"/>
          <p:cNvSpPr/>
          <p:nvPr/>
        </p:nvSpPr>
        <p:spPr>
          <a:xfrm>
            <a:off x="9509760" y="2286000"/>
            <a:ext cx="2103120" cy="2926080"/>
          </a:xfrm>
          <a:prstGeom prst="rect">
            <a:avLst/>
          </a:prstGeom>
          <a:solidFill>
            <a:srgbClr val="EEF1FB"/>
          </a:solidFill>
          <a:ln w="12700">
            <a:solidFill>
              <a:srgbClr val="EEF1FB"/>
            </a:solidFill>
            <a:prstDash val="solid"/>
          </a:ln>
        </p:spPr>
      </p:sp>
      <p:sp>
        <p:nvSpPr>
          <p:cNvPr id="36" name="milestone 5 bar"/>
          <p:cNvSpPr/>
          <p:nvPr/>
        </p:nvSpPr>
        <p:spPr>
          <a:xfrm>
            <a:off x="9509760" y="2286000"/>
            <a:ext cx="64008" cy="292608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9264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CC"/>
                </a:solidFill>
              </a:rPr>
              <a:t>Dashboard &amp; demo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28346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Congestion alerts and cost-meter dashboard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SUMO / edge-device demo, submission pack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</a:rPr>
              <a:t>Checkpoint: </a:t>
            </a:r>
            <a:r>
              <a:rPr lang="en-US" sz="1100" dirty="0">
                <a:solidFill>
                  <a:srgbClr val="111111"/>
                </a:solidFill>
              </a:rPr>
              <a:t>Working end-to-end demo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Methodology: iterative and ablation-driven. Every stage ends with a measurable checkpoint (RMSE, MB per round).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0" y="109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CC"/>
                </a:solidFill>
              </a:rPr>
              <a:t>AIORI 3     Bibliography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CC"/>
                </a:solidFill>
              </a:rPr>
              <a:t>Bibliography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[1]  H. B. McMahan et al., “Communication-Efficient Learning of Deep Networks from Decentralized Data,” AISTATS, 2017.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[2]  Y. Li, R. Yu, C. Shahabi, Y. Liu, “Diffusion Convolutional Recurrent Neural Network: Data-Driven Traffic Forecasting,” ICLR, 2018.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[3]  Y. Liu et al., “Privacy-Preserving Traffic Flow Prediction: A Federated Learning Approach,” IEEE Internet of Things Journal, vol. 7, no. 8, 2020.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[4]  Y. Lin, S. Han, H. Mao, Y. Wang, W. J. Dally, “Deep Gradient Compression,” ICLR, 2018.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[5]  K. Bonawitz et al., “Practical Secure Aggregation for Privacy-Preserving Machine Learning,” ACM CCS, 2017.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[6]  A. Ghosh, J. Chung, D. Yin, K. Ramchandran, “An Efficient Framework for Clustered Federated Learning,” NeurIPS, 2020.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[7]  T. Li et al., “Federated Optimization in Heterogeneous Networks,” MLSys, 2020.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[8]  D. J. Beutel et al., “Flower: A Friendly Federated Learning Research Framework,” arXiv:2007.14390, 2020.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</a:rPr>
              <a:t>[9]  E. Rescorla, “The Transport Layer Security (TLS) Protocol Version 1.3,” RFC 8446, IETF, 2018.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000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OR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143000" cy="11338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CC"/>
                </a:solidFill>
              </a:rPr>
              <a:t>Thank You for Your Attention!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749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11111"/>
                </a:solidFill>
              </a:rPr>
              <a:t>A3-PS003-TC371  •  AIORI Hackathon 3</a:t>
            </a:r>
          </a:p>
          <a:p>
            <a:r>
              <a:rPr lang="en-US" dirty="0"/>
              <a:t>Dr. J . Cynthia      </a:t>
            </a:r>
            <a:r>
              <a:rPr lang="en-US" dirty="0">
                <a:solidFill>
                  <a:srgbClr val="111111"/>
                </a:solidFill>
              </a:rPr>
              <a:t> –  Cynthia@karunya.edu 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Aryashree Rajkumar  –  aryashreerajkumar@karunya.edu.in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Yuthika G  –  yuthikag@karunya.edu.in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3">
  <a:themeElements>
    <a:clrScheme name="AIORI3">
      <a:dk1>
        <a:srgbClr val="111111"/>
      </a:dk1>
      <a:lt1>
        <a:srgbClr val="FFFFFF"/>
      </a:lt1>
      <a:dk2>
        <a:srgbClr val="1B2A6B"/>
      </a:dk2>
      <a:lt2>
        <a:srgbClr val="EEF1FB"/>
      </a:lt2>
      <a:accent1>
        <a:srgbClr val="0000CC"/>
      </a:accent1>
      <a:accent2>
        <a:srgbClr val="1B2A6B"/>
      </a:accent2>
      <a:accent3>
        <a:srgbClr val="F28C28"/>
      </a:accent3>
      <a:accent4>
        <a:srgbClr val="138808"/>
      </a:accent4>
      <a:accent5>
        <a:srgbClr val="5B6BC0"/>
      </a:accent5>
      <a:accent6>
        <a:srgbClr val="8A8FA8"/>
      </a:accent6>
      <a:hlink>
        <a:srgbClr val="0000CC"/>
      </a:hlink>
      <a:folHlink>
        <a:srgbClr val="5B6BC0"/>
      </a:folHlink>
    </a:clrScheme>
    <a:fontScheme name="AIORI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1390</Words>
  <Application>Microsoft Office PowerPoint</Application>
  <PresentationFormat>Widescreen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AIORI3</vt:lpstr>
      <vt:lpstr>PowerPoint Presentation</vt:lpstr>
      <vt:lpstr>Abstract: Problem Description</vt:lpstr>
      <vt:lpstr>Background</vt:lpstr>
      <vt:lpstr>Literature &amp; RFC Review</vt:lpstr>
      <vt:lpstr>Proposed Solution</vt:lpstr>
      <vt:lpstr>Optimization Proposed</vt:lpstr>
      <vt:lpstr>Solution Architecture &amp; Design</vt:lpstr>
      <vt:lpstr>Data Flow Diagram</vt:lpstr>
      <vt:lpstr>Deployment Timeline</vt:lpstr>
      <vt:lpstr>Bibliography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A3-PS003-TC371 – Federated Traffic-Flow Prediction</dc:title>
  <dc:subject>PptxGenJS Presentation</dc:subject>
  <dc:creator>Aryashree Rajkumar, Yuthika G</dc:creator>
  <cp:lastModifiedBy>Aryashree Rajkumar</cp:lastModifiedBy>
  <cp:revision>2</cp:revision>
  <dcterms:created xsi:type="dcterms:W3CDTF">2026-10-11T14:15:17Z</dcterms:created>
  <dcterms:modified xsi:type="dcterms:W3CDTF">2026-10-11T14:25:49Z</dcterms:modified>
</cp:coreProperties>
</file>